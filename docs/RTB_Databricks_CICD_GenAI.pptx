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project: an automated pipeline that tests, deploys and runs a Databricks ETL job, with AI generating reports so humans spend less time reading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pain points of manual deployment and how automation plus AI solves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tool has one clear job. Everything used here is free for this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right: developer pushes code, GitHub Actions tests it, deploys to QA, then PROD after approval. Logs flow to the AI which writes reports. Notification goes to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full journey of one code change. Steps 1-4 are CI, 5-7 are CD, 8 is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Developers never push directly to main. main always equals what is deployed.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jobs. Quality checks first; bundle validation and AI review use its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QA and PROD use the SAME reusable workflow; only the target changes. PROD waits for a reviewer.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Bronze = raw, Silver = clean, Gold = business summary. Validation stops the job if data is bad.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Databricks Free Edition gives one workspace, so QA and PROD are separated with Unity Catalog catalogs.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AI is an assistant, not a gate. Secrets are removed before sending. If AI is down, a normal report is still written and the pipeline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demo show review-workflows and release-notes: both are quick and easy to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least privilege, secrets handling and scanning. These map to milestone M4.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3-4 of these to highlight verbally.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configured in GitHub Settings. No secret is stored in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reports pre-generated in ai_reports/ in case the free AI tier is busy during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value: faster, safer releases and less manual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743200" cy="73152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CI/CD for Databricks with GenAI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0DCF0"/>
                </a:solidFill>
                <a:latin typeface="Segoe UI"/>
              </a:defRPr>
            </a:pPr>
            <a:r>
              <a:t>GitHub Actions  |  Databricks Asset Bundles  |  QA -&gt; PROD  |  AI-assisted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Segoe UI"/>
              </a:defRPr>
            </a:pPr>
            <a:r>
              <a:t>RTB C16 Case Study - Evaluation</a:t>
            </a:r>
          </a:p>
          <a:p>
            <a:pPr>
              <a:defRPr sz="1800" b="0">
                <a:solidFill>
                  <a:srgbClr val="FFFFFF"/>
                </a:solidFill>
                <a:latin typeface="Segoe UI"/>
              </a:defRPr>
            </a:pPr>
            <a:r>
              <a:t>Sales ETL pipeline: Bronze -&gt; Silver -&gt; Gold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Business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0DCF0"/>
                </a:solidFill>
                <a:latin typeface="Segoe UI"/>
              </a:defRPr>
            </a:pPr>
            <a:r>
              <a:t>Why do we need this pipeline?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512064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19050">
            <a:solidFill>
              <a:srgbClr val="FF3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621"/>
                </a:solidFill>
                <a:latin typeface="Segoe UI"/>
              </a:defRPr>
            </a:pPr>
            <a:r>
              <a:t>Problem today (manual process)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Notebooks copied to Databricks by hand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No automatic testing -&gt; bugs reach PROD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No review / approval before PROD changes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Engineers spend time reading long logs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Release notes and docs written manually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Secrets (tokens) sometimes shared in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280160"/>
            <a:ext cx="5486400" cy="512064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D32"/>
                </a:solidFill>
                <a:latin typeface="Segoe UI"/>
              </a:defRPr>
            </a:pPr>
            <a:r>
              <a:t>Solution (this project)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7830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One push -&gt; automatic test, deploy and run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Lint, security scan and unit tests on every PR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QA first, PROD only after manual approval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AI summarises logs and finds root cause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AI writes release notes, docs, workflow review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Secrets stored in GitHub Secrets and redacted before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Tools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0DCF0"/>
                </a:solidFill>
                <a:latin typeface="Segoe UI"/>
              </a:defRPr>
            </a:pPr>
            <a:r>
              <a:t>Simple, free and standard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51760" cy="2194560"/>
          </a:xfrm>
          <a:prstGeom prst="roundRect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GitHub</a:t>
            </a:r>
          </a:p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Code, branches,</a:t>
            </a:r>
          </a:p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pull requests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371600"/>
            <a:ext cx="2651760" cy="219456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GitHub Actions</a:t>
            </a:r>
          </a:p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CI/CD automation</a:t>
            </a:r>
          </a:p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(workflows, runners)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651760" cy="2194560"/>
          </a:xfrm>
          <a:prstGeom prst="roundRect">
            <a:avLst/>
          </a:prstGeom>
          <a:solidFill>
            <a:srgbClr val="FF3621"/>
          </a:solidFill>
          <a:ln>
            <a:solidFill>
              <a:srgbClr val="FF3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Databricks</a:t>
            </a:r>
          </a:p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Free Edition,</a:t>
            </a:r>
          </a:p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serverless + Unity Catalog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371600"/>
            <a:ext cx="2651760" cy="219456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Asset Bundles</a:t>
            </a:r>
          </a:p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databricks.yml -</a:t>
            </a:r>
          </a:p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infrastructure as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2651760" cy="2194560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PySpark + pytest</a:t>
            </a:r>
          </a:p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ETL logic and</a:t>
            </a:r>
          </a:p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unit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931920"/>
            <a:ext cx="2651760" cy="2194560"/>
          </a:xfrm>
          <a:prstGeom prst="roundRect">
            <a:avLst/>
          </a:prstGeom>
          <a:solidFill>
            <a:srgbClr val="606060"/>
          </a:solidFill>
          <a:ln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flake8 / yamllint / bandit</a:t>
            </a:r>
          </a:p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Code style, YAML check,</a:t>
            </a:r>
          </a:p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security scan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2651760" cy="219456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Google Gemini API</a:t>
            </a:r>
          </a:p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GenAI reports</a:t>
            </a:r>
          </a:p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(no VPN needed)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3931920"/>
            <a:ext cx="2651760" cy="219456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Slack / Teams</a:t>
            </a:r>
          </a:p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Pipeline result</a:t>
            </a:r>
          </a:p>
          <a:p>
            <a:pPr algn="ctr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notification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0DCF0"/>
                </a:solidFill>
                <a:latin typeface="Segoe UI"/>
              </a:defRPr>
            </a:pPr>
            <a:r>
              <a:t>How all the parts 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03120"/>
            <a:ext cx="1554480" cy="1280160"/>
          </a:xfrm>
          <a:prstGeom prst="roundRect">
            <a:avLst/>
          </a:prstGeom>
          <a:solidFill>
            <a:srgbClr val="606060"/>
          </a:solidFill>
          <a:ln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Developer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feature/* branch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74519" y="2587752"/>
            <a:ext cx="365760" cy="320040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2103120"/>
            <a:ext cx="1645920" cy="1280160"/>
          </a:xfrm>
          <a:prstGeom prst="roundRect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GitHub Repo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Pull Request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to main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77639" y="2587752"/>
            <a:ext cx="365760" cy="320040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B6"/>
                </a:solidFill>
                <a:latin typeface="Segoe UI"/>
              </a:defRPr>
            </a:pPr>
            <a:r>
              <a:t>CI (GitHub runner)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91640"/>
            <a:ext cx="2468880" cy="50292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Lint: flake8, yamllint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313432"/>
            <a:ext cx="2468880" cy="50292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Security: bandit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935224"/>
            <a:ext cx="2468880" cy="50292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Unit tests: pytest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3557016"/>
            <a:ext cx="2468880" cy="50292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Bundle validate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78040" y="2587752"/>
            <a:ext cx="365760" cy="320040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89520" y="1234440"/>
            <a:ext cx="2148840" cy="301752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2801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A1B9A"/>
                </a:solidFill>
                <a:latin typeface="Segoe UI"/>
              </a:defRPr>
            </a:pPr>
            <a:r>
              <a:t>CD (deploy)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1691640"/>
            <a:ext cx="1874519" cy="68580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Deploy + run</a:t>
            </a:r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QA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2514600"/>
            <a:ext cx="1874519" cy="54864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Manual approval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3200400"/>
            <a:ext cx="1874519" cy="68580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Deploy + run</a:t>
            </a:r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PROD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784080" y="2587752"/>
            <a:ext cx="365760" cy="320040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195560" y="1234440"/>
            <a:ext cx="1783080" cy="301752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19050">
            <a:solidFill>
              <a:srgbClr val="FF3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7000" y="12801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621"/>
                </a:solidFill>
                <a:latin typeface="Segoe UI"/>
              </a:defRPr>
            </a:pPr>
            <a:r>
              <a:t>Databricks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87000" y="1737360"/>
            <a:ext cx="1600200" cy="1005840"/>
          </a:xfrm>
          <a:prstGeom prst="roundRect">
            <a:avLst/>
          </a:prstGeom>
          <a:solidFill>
            <a:srgbClr val="FF3621"/>
          </a:solidFill>
          <a:ln>
            <a:solidFill>
              <a:srgbClr val="FF3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qa_catalog</a:t>
            </a:r>
          </a:p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sales schema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87000" y="2926080"/>
            <a:ext cx="1600200" cy="1005840"/>
          </a:xfrm>
          <a:prstGeom prst="roundRect">
            <a:avLst/>
          </a:prstGeom>
          <a:solidFill>
            <a:srgbClr val="FF3621"/>
          </a:solidFill>
          <a:ln>
            <a:solidFill>
              <a:srgbClr val="FF3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prod_catalog</a:t>
            </a:r>
          </a:p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sales schema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577840" y="4343400"/>
            <a:ext cx="320040" cy="457200"/>
          </a:xfrm>
          <a:prstGeom prst="down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8503920" y="4343400"/>
            <a:ext cx="320040" cy="457200"/>
          </a:xfrm>
          <a:prstGeom prst="down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89120" y="4892040"/>
            <a:ext cx="5349240" cy="91440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GenAI assistant (Gemini API)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logs in -&gt; summary, release notes, docs, workflow review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784080" y="5193792"/>
            <a:ext cx="365760" cy="320040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95560" y="4892040"/>
            <a:ext cx="1783080" cy="9144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Reports +</a:t>
            </a:r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Slack / Teams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4892040"/>
            <a:ext cx="3657600" cy="914400"/>
          </a:xfrm>
          <a:prstGeom prst="roundRect">
            <a:avLst/>
          </a:prstGeom>
          <a:solidFill>
            <a:srgbClr val="606060"/>
          </a:solidFill>
          <a:ln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GitHub Secrets</a:t>
            </a:r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DATABRICKS_TOKEN, GEMINI_API_KEY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End-to-End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0DCF0"/>
                </a:solidFill>
                <a:latin typeface="Segoe UI"/>
              </a:defRPr>
            </a:pPr>
            <a:r>
              <a:t>From code change to production in 8 simple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510028" cy="1371600"/>
          </a:xfrm>
          <a:prstGeom prst="roundRect">
            <a:avLst/>
          </a:prstGeom>
          <a:solidFill>
            <a:srgbClr val="606060"/>
          </a:solidFill>
          <a:ln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1. Code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change on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feature branch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12948" y="199339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78708" y="1463040"/>
            <a:ext cx="2510028" cy="1371600"/>
          </a:xfrm>
          <a:prstGeom prst="roundRect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2. Open PR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to main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34456" y="199339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0216" y="1463040"/>
            <a:ext cx="2510028" cy="137160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3. CI: lint +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security + tests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55964" y="199339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21724" y="1463040"/>
            <a:ext cx="2510028" cy="137160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4. AI reviews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CI logs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0881360" y="2971800"/>
            <a:ext cx="365760" cy="502920"/>
          </a:xfrm>
          <a:prstGeom prst="down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2510028" cy="1371600"/>
          </a:xfrm>
          <a:prstGeom prst="roundRect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5. Merge PR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-&gt; CD starts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12948" y="418795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78708" y="3657600"/>
            <a:ext cx="2510028" cy="137160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6. Deploy + run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in QA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34456" y="418795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0216" y="3657600"/>
            <a:ext cx="2510028" cy="13716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7. Approve -&gt;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Deploy + run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PROD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55964" y="418795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21724" y="3657600"/>
            <a:ext cx="2510028" cy="137160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8. AI release notes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+ notification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If any step fails, the pipeline stops and the team is notified. AI steps never block deployment (they only assist).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Branching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0DCF0"/>
                </a:solidFill>
                <a:latin typeface="Segoe UI"/>
              </a:defRPr>
            </a:pPr>
            <a:r>
              <a:t>Simple feature-branch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925726" cy="1371600"/>
          </a:xfrm>
          <a:prstGeom prst="roundRect">
            <a:avLst/>
          </a:prstGeom>
          <a:solidFill>
            <a:srgbClr val="606060"/>
          </a:solidFill>
          <a:ln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feature/&lt;name&gt;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CI runs on push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28646" y="235915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94406" y="1828800"/>
            <a:ext cx="1925726" cy="1371600"/>
          </a:xfrm>
          <a:prstGeom prst="roundRect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Pull Request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CI must pass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65852" y="235915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31612" y="1828800"/>
            <a:ext cx="1925726" cy="137160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main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CD starts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03059" y="235915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68819" y="1828800"/>
            <a:ext cx="1925726" cy="137160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QA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automatic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40265" y="235915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06025" y="1828800"/>
            <a:ext cx="1925726" cy="1371600"/>
          </a:xfrm>
          <a:prstGeom prst="roundRect">
            <a:avLst/>
          </a:prstGeom>
          <a:solidFill>
            <a:srgbClr val="FF3621"/>
          </a:solidFill>
          <a:ln>
            <a:solidFill>
              <a:srgbClr val="FF3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PROD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after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feature/** and develop branches: CI only (no deployment)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Pull request to main: CI must be green before merge (branch protection)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Merge to main: full CD (QA -&gt; approval -&gt; PROD)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concurrency setting: only one deployment at a time, never in parallel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CI Workflow (ci.yml)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0DCF0"/>
                </a:solidFill>
                <a:latin typeface="Segoe UI"/>
              </a:defRPr>
            </a:pPr>
            <a:r>
              <a:t>Runs on every pull request and feature push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536192" cy="1097280"/>
          </a:xfrm>
          <a:prstGeom prst="roundRect">
            <a:avLst/>
          </a:prstGeom>
          <a:solidFill>
            <a:srgbClr val="606060"/>
          </a:solidFill>
          <a:ln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Checkout</a:t>
            </a:r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Python + Java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39111" y="176479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04872" y="1371600"/>
            <a:ext cx="1536192" cy="109728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flake8</a:t>
            </a:r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code style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86783" y="176479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52544" y="1371600"/>
            <a:ext cx="1536192" cy="109728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yamllint</a:t>
            </a:r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YAML files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34455" y="176479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0216" y="1371600"/>
            <a:ext cx="1536192" cy="1097280"/>
          </a:xfrm>
          <a:prstGeom prst="roundRect">
            <a:avLst/>
          </a:prstGeom>
          <a:solidFill>
            <a:srgbClr val="FF3621"/>
          </a:solidFill>
          <a:ln>
            <a:solidFill>
              <a:srgbClr val="FF3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bandit</a:t>
            </a:r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security scan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82128" y="176479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7888" y="1371600"/>
            <a:ext cx="1536192" cy="1097280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pytest</a:t>
            </a:r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local Spark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829800" y="176479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95559" y="1371600"/>
            <a:ext cx="1536192" cy="1097280"/>
          </a:xfrm>
          <a:prstGeom prst="roundRect">
            <a:avLst/>
          </a:prstGeom>
          <a:solidFill>
            <a:srgbClr val="606060"/>
          </a:solidFill>
          <a:ln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Upload logs</a:t>
            </a:r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artifact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34640"/>
            <a:ext cx="5486400" cy="356616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880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A1B9A"/>
                </a:solidFill>
                <a:latin typeface="Segoe UI"/>
              </a:defRPr>
            </a:pPr>
            <a:r>
              <a:t>Job 2: Validate bundle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37560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Installs the Databricks CLI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databricks bundle validate -t qa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databricks bundle validate -t prod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Catches config errors before any deploy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2834640"/>
            <a:ext cx="5486400" cy="356616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880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D32"/>
                </a:solidFill>
                <a:latin typeface="Segoe UI"/>
              </a:defRPr>
            </a:pPr>
            <a:r>
              <a:t>Job 3: AI review (optional)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337560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Runs when variable ENABLE_AI = true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Downloads CI logs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AI: CI build &amp; test summary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AI: GitHub workflow review (security, caching)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continue-on-error: never blocks the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CD Workflow (cd.yml)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0DCF0"/>
                </a:solidFill>
                <a:latin typeface="Segoe UI"/>
              </a:defRPr>
            </a:pPr>
            <a:r>
              <a:t>Runs when code is merged to 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536192" cy="109728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CI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(reused ci.yml)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39111" y="176479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04872" y="1371600"/>
            <a:ext cx="1536192" cy="109728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Deploy QA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qa_catalog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86783" y="176479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52544" y="1371600"/>
            <a:ext cx="1536192" cy="10972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Manual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approval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34455" y="176479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0216" y="1371600"/>
            <a:ext cx="1536192" cy="1097280"/>
          </a:xfrm>
          <a:prstGeom prst="roundRect">
            <a:avLst/>
          </a:prstGeom>
          <a:solidFill>
            <a:srgbClr val="FF3621"/>
          </a:solidFill>
          <a:ln>
            <a:solidFill>
              <a:srgbClr val="FF3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Deploy PROD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prod_catalog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82128" y="176479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7888" y="1371600"/>
            <a:ext cx="1536192" cy="109728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AI release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report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829800" y="176479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95559" y="1371600"/>
            <a:ext cx="1536192" cy="1097280"/>
          </a:xfrm>
          <a:prstGeom prst="roundRect">
            <a:avLst/>
          </a:prstGeom>
          <a:solidFill>
            <a:srgbClr val="606060"/>
          </a:solidFill>
          <a:ln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Notify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Slack / Teams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34640"/>
            <a:ext cx="11274552" cy="356616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88036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A1B9A"/>
                </a:solidFill>
                <a:latin typeface="Segoe UI"/>
              </a:defRPr>
            </a:pPr>
            <a:r>
              <a:t>Reusable deploy workflow (reusable-databricks-deploy.yml) - same steps for QA and PROD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1440180" cy="1097280"/>
          </a:xfrm>
          <a:prstGeom prst="roundRect">
            <a:avLst/>
          </a:prstGeom>
          <a:solidFill>
            <a:srgbClr val="606060"/>
          </a:solidFill>
          <a:ln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Checkout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217420" y="3867911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83180" y="3474720"/>
            <a:ext cx="1440180" cy="1097280"/>
          </a:xfrm>
          <a:prstGeom prst="roundRect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Install</a:t>
            </a:r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Databricks CLI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069080" y="3867911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34840" y="3474720"/>
            <a:ext cx="1440180" cy="109728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bundle</a:t>
            </a:r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validate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20740" y="3867911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86499" y="3474720"/>
            <a:ext cx="1440180" cy="109728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bundle</a:t>
            </a:r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deploy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772400" y="3867911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60" y="3474720"/>
            <a:ext cx="1440180" cy="1097280"/>
          </a:xfrm>
          <a:prstGeom prst="roundRect">
            <a:avLst/>
          </a:prstGeom>
          <a:solidFill>
            <a:srgbClr val="FF3621"/>
          </a:solidFill>
          <a:ln>
            <a:solidFill>
              <a:srgbClr val="FF3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bundle run</a:t>
            </a:r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sales_etl_job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624060" y="3867911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89820" y="3474720"/>
            <a:ext cx="1440180" cy="1097280"/>
          </a:xfrm>
          <a:prstGeom prst="roundRect">
            <a:avLst/>
          </a:prstGeom>
          <a:solidFill>
            <a:srgbClr val="606060"/>
          </a:solidFill>
          <a:ln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Summary +</a:t>
            </a:r>
          </a:p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upload 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377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06060"/>
                </a:solidFill>
                <a:latin typeface="Segoe UI"/>
              </a:defRPr>
            </a:pPr>
            <a:r>
              <a:t>Write once, reuse for every environment. The 'prod' GitHub Environment has Required reviewers, so the PROD job pauses until someone approves.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Databricks ETL Job - Medallion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0DCF0"/>
                </a:solidFill>
                <a:latin typeface="Segoe UI"/>
              </a:defRPr>
            </a:pPr>
            <a:r>
              <a:t>5 tasks, run one after another on serverless compute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925726" cy="1188720"/>
          </a:xfrm>
          <a:prstGeom prst="roundRect">
            <a:avLst/>
          </a:prstGeom>
          <a:solidFill>
            <a:srgbClr val="606060"/>
          </a:solidFill>
          <a:ln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00 Setup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catalog + schema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28646" y="181051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94406" y="1371600"/>
            <a:ext cx="1925726" cy="1188720"/>
          </a:xfrm>
          <a:prstGeom prst="roundRect">
            <a:avLst/>
          </a:prstGeom>
          <a:solidFill>
            <a:srgbClr val="A0522D"/>
          </a:solidFill>
          <a:ln>
            <a:solidFill>
              <a:srgbClr val="A05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01 Bronze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raw orders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65852" y="181051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31612" y="1371600"/>
            <a:ext cx="1925726" cy="1188720"/>
          </a:xfrm>
          <a:prstGeom prst="roundRect">
            <a:avLst/>
          </a:prstGeom>
          <a:solidFill>
            <a:srgbClr val="757575"/>
          </a:solidFill>
          <a:ln>
            <a:solidFill>
              <a:srgbClr val="7575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02 Silver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clean data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03059" y="181051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68819" y="1371600"/>
            <a:ext cx="1925726" cy="1188720"/>
          </a:xfrm>
          <a:prstGeom prst="roundRect">
            <a:avLst/>
          </a:prstGeom>
          <a:solidFill>
            <a:srgbClr val="C99A00"/>
          </a:solidFill>
          <a:ln>
            <a:solidFill>
              <a:srgbClr val="C9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03 Gold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sales summary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40265" y="181051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06025" y="1371600"/>
            <a:ext cx="1925726" cy="118872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04 Validate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quality gate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3017520"/>
          <a:ext cx="112745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377440"/>
                <a:gridCol w="7434072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 happens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Bronze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bronze_orders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Load raw sample orders as-is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Silver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silver_orders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Drop nulls/duplicates, remove qty/price &lt;= 0, trim text, add amount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gold_sales_summary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Orders, quantity and revenue per region and product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Validate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Fail the job if null IDs, amount &lt;= 0 or duplicate orders are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Environments and Free Edition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0DCF0"/>
                </a:solidFill>
                <a:latin typeface="Segoe UI"/>
              </a:defRPr>
            </a:pPr>
            <a:r>
              <a:t>One workspace, two catalogs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455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194560"/>
                <a:gridCol w="3017520"/>
                <a:gridCol w="2039112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Environment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Bundle target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Catalog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Job name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Approval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QA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qa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qa_catalog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[qa] Sales ETL Job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Automatic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PROD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prod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prod_catalog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[prod] Sales ETL Job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Required reviewer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926080"/>
          <a:ext cx="112745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159752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Free Edition constraint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How we handle it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Only one workspace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Separate catalogs + bundle targets for QA and PROD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Serverless compute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No cluster defined in the job -&gt; runs on serverless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No DBFS / external storage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Unity Catalog managed tables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Limited compute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Small data, max_concurrent_runs =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Limited outbound internet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AI calls run on the GitHub runner, not in Databricks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GenAI Flow (scripts/ai_assistant.py)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0DCF0"/>
                </a:solidFill>
                <a:latin typeface="Segoe UI"/>
              </a:defRPr>
            </a:pPr>
            <a:r>
              <a:t>How one AI report is created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925726" cy="1188720"/>
          </a:xfrm>
          <a:prstGeom prst="roundRect">
            <a:avLst/>
          </a:prstGeom>
          <a:solidFill>
            <a:srgbClr val="606060"/>
          </a:solidFill>
          <a:ln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Collect input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logs / git / code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28646" y="181051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94406" y="1371600"/>
            <a:ext cx="1925726" cy="1188720"/>
          </a:xfrm>
          <a:prstGeom prst="roundRect">
            <a:avLst/>
          </a:prstGeom>
          <a:solidFill>
            <a:srgbClr val="FF3621"/>
          </a:solidFill>
          <a:ln>
            <a:solidFill>
              <a:srgbClr val="FF3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Redact secrets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tokens, host, keys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65852" y="181051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31612" y="1371600"/>
            <a:ext cx="1925726" cy="118872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Build prompt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fixed sections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03059" y="181051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68819" y="1371600"/>
            <a:ext cx="1925726" cy="118872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Call Gemini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retry + fallback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40265" y="181051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06025" y="1371600"/>
            <a:ext cx="1925726" cy="118872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Write Markdown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+ run 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26080"/>
            <a:ext cx="5486400" cy="347472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71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D32"/>
                </a:solidFill>
                <a:latin typeface="Segoe UI"/>
              </a:defRPr>
            </a:pPr>
            <a:r>
              <a:t>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Gemini models tried in order:</a:t>
            </a:r>
          </a:p>
          <a:p>
            <a:pPr>
              <a:spcAft>
                <a:spcPts val="600"/>
              </a:spcAft>
              <a:defRPr sz="1400" b="0">
                <a:solidFill>
                  <a:srgbClr val="606060"/>
                </a:solidFill>
                <a:latin typeface="Segoe UI"/>
              </a:defRPr>
            </a:pPr>
            <a:r>
              <a:t>      - 3.7-flash -&gt; 3.5-flash-lite -&gt; 3.8-flash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429 / 503: waits the time Gemini asks, then retries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90 s timeout per request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All fail -&gt; fallback report, exit code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926080"/>
            <a:ext cx="5486400" cy="347472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2971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B6"/>
                </a:solidFill>
                <a:latin typeface="Segoe UI"/>
              </a:defRPr>
            </a:pPr>
            <a:r>
              <a:t>Why Gemini (and not Ollama)?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42900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Company Ollama servers need GlobalProtect VPN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VPN blocks personal GitHub -&gt; conflict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Gemini API is public: works on GitHub runners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Free tier, key stored as secret GEMINI_API_KEY</a:t>
            </a:r>
          </a:p>
          <a:p>
            <a:pPr>
              <a:spcAft>
                <a:spcPts val="600"/>
              </a:spcAft>
              <a:defRPr sz="1600" b="0">
                <a:solidFill>
                  <a:srgbClr val="222222"/>
                </a:solidFill>
                <a:latin typeface="Segoe UI"/>
              </a:defRPr>
            </a:pPr>
            <a:r>
              <a:t>•  Ollama still supported: AI_PROVIDER=ollama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GenAI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0DCF0"/>
                </a:solidFill>
                <a:latin typeface="Segoe UI"/>
              </a:defRPr>
            </a:pPr>
            <a:r>
              <a:t>5 commands, each saves manual effort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455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3108960"/>
                <a:gridCol w="3959352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Used in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CI + CD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API key / servers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Connectivity OK / FAIL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summarize-logs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CI + 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Lint, test, deploy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Status, errors, root cause, fixes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release-notes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CD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git history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Highlights, fixes, changelog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generate-docs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src + bundle YAML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Pipeline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review-workflows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CI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.github/workflows/*.yml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Findings table by severity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generate-workflow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Plain-English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Draft workflow YAML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38912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06060"/>
                </a:solidFill>
                <a:latin typeface="Segoe UI"/>
              </a:defRPr>
            </a:pPr>
            <a:r>
              <a:t>Every AI report carries a note: 'Generated by AI. Review for accuracy before publishing.'  -&gt;  a human always validates.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Security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0DCF0"/>
                </a:solidFill>
                <a:latin typeface="Segoe UI"/>
              </a:defRPr>
            </a:pPr>
            <a:r>
              <a:t>Security built into every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2194560"/>
          </a:xfrm>
          <a:prstGeom prst="roundRect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Secrets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Tokens only in GitHub Secrets,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never in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71600"/>
            <a:ext cx="3566160" cy="219456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Least privilege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permissions: contents: read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566160" cy="2194560"/>
          </a:xfrm>
          <a:prstGeom prst="roundRect">
            <a:avLst/>
          </a:prstGeom>
          <a:solidFill>
            <a:srgbClr val="FF3621"/>
          </a:solidFill>
          <a:ln>
            <a:solidFill>
              <a:srgbClr val="FF3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SAST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bandit scans Python code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on every PR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3566160" cy="219456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Redaction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Tokens / keys masked before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sending anything to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931920"/>
            <a:ext cx="3566160" cy="219456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Approvals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PROD needs a required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reviewer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931920"/>
            <a:ext cx="3566160" cy="219456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Safe inputs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Inputs passed as env vars,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SQL names validated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CI/CD Best Practices Followed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0DCF0"/>
                </a:solidFill>
                <a:latin typeface="Segoe UI"/>
              </a:defRPr>
            </a:pPr>
            <a:r>
              <a:t>What makes this pipeline reliable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512064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B6"/>
                </a:solidFill>
                <a:latin typeface="Segoe UI"/>
              </a:defRPr>
            </a:pPr>
            <a:r>
              <a:t>Pipeline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Reusable workflow for QA and PROD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Infrastructure as code (Asset Bundles)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Fail fast: lint and tests before deploy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timeout-minutes on every job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concurrency: no parallel deployments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pip caching for faster builds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280160"/>
            <a:ext cx="5486400" cy="512064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D32"/>
                </a:solidFill>
                <a:latin typeface="Segoe UI"/>
              </a:defRPr>
            </a:pPr>
            <a:r>
              <a:t>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7830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Logs uploaded as artifacts for every run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Deployment summary on the run page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Data quality gate stops bad data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Slack / Teams notification with result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AI never blocks deployment</a:t>
            </a:r>
          </a:p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  <a:latin typeface="Segoe UI"/>
              </a:defRPr>
            </a:pPr>
            <a:r>
              <a:t>•  Human review of all AI output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Is Needed (Setup)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0DCF0"/>
                </a:solidFill>
                <a:latin typeface="Segoe UI"/>
              </a:defRPr>
            </a:pPr>
            <a:r>
              <a:t>One-time configuration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45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474720"/>
                <a:gridCol w="5056632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Secret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DATABRICKS_HOST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Databricks workspace URL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Secret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DATABRICKS_TOKEN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Personal access token for the CLI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Secret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GEMINI_API_KEY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Free key from aistudio.google.com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Secret (optional)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NOTIFY_WEBHOOK_URL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Slack / Teams incoming 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ENABLE_AI = true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Turns the GenAI jobs on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Variable (optional)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AI_PROVIDER / GEMINI_MODEL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Choose provider or first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Environment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qa, prod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Segoe UI"/>
                        </a:defRPr>
                      </a:pPr>
                      <a:r>
                        <a:t>prod has Required reviewers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Live Demo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0DCF0"/>
                </a:solidFill>
                <a:latin typeface="Segoe UI"/>
              </a:defRPr>
            </a:pPr>
            <a:r>
              <a:t>What will be shown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536192" cy="1280160"/>
          </a:xfrm>
          <a:prstGeom prst="roundRect">
            <a:avLst/>
          </a:prstGeom>
          <a:solidFill>
            <a:srgbClr val="606060"/>
          </a:solidFill>
          <a:ln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1. Push to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feature branch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39111" y="194767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04872" y="1463040"/>
            <a:ext cx="1536192" cy="128016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2. CI green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in Actions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86783" y="194767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52544" y="1463040"/>
            <a:ext cx="1536192" cy="128016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3. AI summary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on run page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34455" y="194767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0216" y="1463040"/>
            <a:ext cx="1536192" cy="128016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4. Merge -&gt;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QA deploy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82128" y="194767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47888" y="1463040"/>
            <a:ext cx="1536192" cy="128016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5. Approve -&gt;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PROD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829800" y="1947672"/>
            <a:ext cx="320040" cy="3108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95559" y="1463040"/>
            <a:ext cx="1536192" cy="1280160"/>
          </a:xfrm>
          <a:prstGeom prst="roundRect">
            <a:avLst/>
          </a:prstGeom>
          <a:solidFill>
            <a:srgbClr val="FF3621"/>
          </a:solidFill>
          <a:ln>
            <a:solidFill>
              <a:srgbClr val="FF3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6. Tables in</a:t>
            </a:r>
          </a:p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Databricks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00400"/>
            <a:ext cx="11274552" cy="320040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461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D32"/>
                </a:solidFill>
                <a:latin typeface="Segoe UI"/>
              </a:defRPr>
            </a:pPr>
            <a:r>
              <a:t>Local AI demo (VPN off)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789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22222"/>
                </a:solidFill>
                <a:latin typeface="Segoe UI"/>
              </a:defRPr>
            </a:pPr>
            <a:r>
              <a:t>$env:AI_PROVIDER = "gemini"</a:t>
            </a:r>
          </a:p>
          <a:p>
            <a:pPr>
              <a:defRPr sz="1600" b="0">
                <a:solidFill>
                  <a:srgbClr val="222222"/>
                </a:solidFill>
                <a:latin typeface="Segoe UI"/>
              </a:defRPr>
            </a:pPr>
            <a:r>
              <a:t>$env:GEMINI_API_KEY = "&lt;key&gt;"</a:t>
            </a:r>
          </a:p>
          <a:p>
            <a:pPr>
              <a:defRPr sz="1600" b="0">
                <a:solidFill>
                  <a:srgbClr val="222222"/>
                </a:solidFill>
                <a:latin typeface="Segoe UI"/>
              </a:defRPr>
            </a:pPr>
            <a:r>
              <a:t>py scripts/ai_assistant.py review-workflows --output ai_reports/workflow_review.md</a:t>
            </a:r>
          </a:p>
          <a:p>
            <a:pPr>
              <a:defRPr sz="1600" b="0">
                <a:solidFill>
                  <a:srgbClr val="222222"/>
                </a:solidFill>
                <a:latin typeface="Segoe UI"/>
              </a:defRPr>
            </a:pPr>
            <a:r>
              <a:t>py scripts/ai_assistant.py release-notes --max-commits 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Benefits and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0DCF0"/>
                </a:solidFill>
                <a:latin typeface="Segoe UI"/>
              </a:defRPr>
            </a:pPr>
            <a:r>
              <a:t>What the business gets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651760" cy="237744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Faster releases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One push deploys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QA automatically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45920"/>
            <a:ext cx="2651760" cy="237744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Fewer defects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Tests + quality gate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before PROD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651760" cy="237744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Controlled PROD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Approval + audit trail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in 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645920"/>
            <a:ext cx="2651760" cy="237744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Less manual work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AI writes summaries,</a:t>
            </a:r>
          </a:p>
          <a:p>
            <a:pPr algn="ctr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notes and 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606060"/>
                </a:solidFill>
                <a:latin typeface="Segoe UI"/>
              </a:defRPr>
            </a:pPr>
            <a:r>
              <a:t>Future scope: service principals (OAuth), more environments, AI-suggested fixes as PR comments, data quality dashboards.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0DCF0"/>
                </a:solidFill>
                <a:latin typeface="Segoe U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